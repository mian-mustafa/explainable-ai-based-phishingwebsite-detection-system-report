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488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EE-403B-A4E2-8B91A9B46CA7}"/>
              </c:ext>
            </c:extLst>
          </c:dPt>
          <c:dPt>
            <c:idx val="1"/>
            <c:bubble3D val="0"/>
            <c:spPr>
              <a:solidFill>
                <a:srgbClr val="E8833A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EE-403B-A4E2-8B91A9B46CA7}"/>
              </c:ext>
            </c:extLst>
          </c:dPt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Phishing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5715</c:v>
                </c:pt>
                <c:pt idx="1">
                  <c:v>5715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EE-403B-A4E2-8B91A9B46C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XGBoost</c:v>
                </c:pt>
                <c:pt idx="1">
                  <c:v>Extra Trees</c:v>
                </c:pt>
                <c:pt idx="2">
                  <c:v>Random Forest</c:v>
                </c:pt>
                <c:pt idx="3">
                  <c:v>Grad. Boost</c:v>
                </c:pt>
                <c:pt idx="4">
                  <c:v>Logistic Reg.</c:v>
                </c:pt>
                <c:pt idx="5">
                  <c:v>Decision Tree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0.96630000000000005</c:v>
                </c:pt>
                <c:pt idx="1">
                  <c:v>0.96460000000000001</c:v>
                </c:pt>
                <c:pt idx="2">
                  <c:v>0.96189999999999998</c:v>
                </c:pt>
                <c:pt idx="3">
                  <c:v>0.95320000000000005</c:v>
                </c:pt>
                <c:pt idx="4">
                  <c:v>0.93610000000000004</c:v>
                </c:pt>
                <c:pt idx="5">
                  <c:v>0.93400000000000005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6-4FF0-A671-6075A1709E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XGBoost</c:v>
                </c:pt>
                <c:pt idx="1">
                  <c:v>Extra Trees</c:v>
                </c:pt>
                <c:pt idx="2">
                  <c:v>Random Forest</c:v>
                </c:pt>
                <c:pt idx="3">
                  <c:v>Grad. Boost</c:v>
                </c:pt>
                <c:pt idx="4">
                  <c:v>Logistic Reg.</c:v>
                </c:pt>
                <c:pt idx="5">
                  <c:v>Decision Tree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0.96650000000000003</c:v>
                </c:pt>
                <c:pt idx="1">
                  <c:v>0.96460000000000001</c:v>
                </c:pt>
                <c:pt idx="2">
                  <c:v>0.96209999999999996</c:v>
                </c:pt>
                <c:pt idx="3">
                  <c:v>0.95340000000000003</c:v>
                </c:pt>
                <c:pt idx="4">
                  <c:v>0.93589999999999995</c:v>
                </c:pt>
                <c:pt idx="5">
                  <c:v>0.93430000000000002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C6-4FF0-A671-6075A1709E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XGBoost</c:v>
                </c:pt>
                <c:pt idx="1">
                  <c:v>Extra Trees</c:v>
                </c:pt>
                <c:pt idx="2">
                  <c:v>Random Forest</c:v>
                </c:pt>
                <c:pt idx="3">
                  <c:v>Grad. Boost</c:v>
                </c:pt>
                <c:pt idx="4">
                  <c:v>Logistic Reg.</c:v>
                </c:pt>
                <c:pt idx="5">
                  <c:v>Decision Tree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0.99439999999999995</c:v>
                </c:pt>
                <c:pt idx="1">
                  <c:v>0.99299999999999999</c:v>
                </c:pt>
                <c:pt idx="2">
                  <c:v>0.99360000000000004</c:v>
                </c:pt>
                <c:pt idx="3">
                  <c:v>0.99050000000000005</c:v>
                </c:pt>
                <c:pt idx="4">
                  <c:v>0.98140000000000005</c:v>
                </c:pt>
                <c:pt idx="5">
                  <c:v>0.93400000000000005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C6-4FF0-A671-6075A1709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DC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190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phish_hints</c:v>
                </c:pt>
                <c:pt idx="1">
                  <c:v>dns_record</c:v>
                </c:pt>
                <c:pt idx="2">
                  <c:v>ratio_digits_host</c:v>
                </c:pt>
                <c:pt idx="3">
                  <c:v>nb_hyperlinks</c:v>
                </c:pt>
                <c:pt idx="4">
                  <c:v>nb_www</c:v>
                </c:pt>
                <c:pt idx="5">
                  <c:v>nb_qm</c:v>
                </c:pt>
                <c:pt idx="6">
                  <c:v>page_rank</c:v>
                </c:pt>
                <c:pt idx="7">
                  <c:v>google_index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1.2999999999999999E-2</c:v>
                </c:pt>
                <c:pt idx="1">
                  <c:v>1.4999999999999999E-2</c:v>
                </c:pt>
                <c:pt idx="2">
                  <c:v>1.7999999999999999E-2</c:v>
                </c:pt>
                <c:pt idx="3">
                  <c:v>2.5000000000000001E-2</c:v>
                </c:pt>
                <c:pt idx="4">
                  <c:v>2.8000000000000001E-2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0.51500000000000001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8-45B5-BF47-C19691E82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4.25</c:v>
                </c:pt>
                <c:pt idx="1">
                  <c:v>4.3499999999999996</c:v>
                </c:pt>
                <c:pt idx="2">
                  <c:v>4.25</c:v>
                </c:pt>
                <c:pt idx="3">
                  <c:v>4.0999999999999996</c:v>
                </c:pt>
                <c:pt idx="4">
                  <c:v>4.55</c:v>
                </c:pt>
                <c:pt idx="5">
                  <c:v>4.4000000000000004</c:v>
                </c:pt>
                <c:pt idx="6">
                  <c:v>3.9</c:v>
                </c:pt>
                <c:pt idx="7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8-4AE9-ABC7-5D75082428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6350" cap="flat">
              <a:solidFill>
                <a:srgbClr val="DC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190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6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 introduces an explainable, human-centred phishing detector combining XGBoost, SHAP and a plain-language warning interface evaluated with an 8-item HCI instrument.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detection alone is insufficient; the system must explain risk clearly enough for ordinary users to act safely. This motivates the four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of prior work against this study. Earlier research advanced detection, explainability or warning design in isolation; this study is the first to integrate all three plus a structured HCI evaluation instrument.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5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each map to a research question, spanning data, modelling, explainability, interface design and HCI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Gap: integration of detection + explanation + human-centred warning design + evaluation is rarely done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Quantitative experimental design. Stratified 80:20 split plus 5-fold CV. F1 on the phishing class chosen because false negatives are the costly error. Default hyper-parameters acknowledged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11,430 instances, perfectly balanced 5,715 / 5,715. 87 numeric features after dropping raw URL text. Three families: URL structure (56), page content (24), external reputation (7).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leads on every metric: 96.63% accuracy, 96.65 F1, 99.44 ROC-AUC. Tree ensembles cluster at the top. High recall matters most because a missed phishing page can mean credential theft.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33 phishing pages missed (2.89% FN). 44 false positives (3.85%). XGBoost is also the most stable across folds — high mean F1, lowest 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and SHAP agree: external-reputation signals (Google index, PageRank, DNS) plus URL/page structure drive predictions. SHAP attributions are translated into plain-language warnings the user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Interface communicates a label, a calibrated score, plain reasons and concrete advice. Colour is backed by text for colour-blind users; it states the basis for the warning to support trust calibration rather than asserting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Pilot/demonstration workbook with 20 responses: overall mean 4.26/5, agreement 93.1%, Cronbach's alpha 0.954 (strong internal consistency). Q5 (visual warning) highest; Q7 (trust) lowest. These illustrate the instrument; a full user study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Findings, limitations and conclusion side by side. Closing claim: the contribution is the integrated pipeline; usability and trust claims await a real user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035040" cy="6035040"/>
          </a:xfrm>
          <a:prstGeom prst="ellipse">
            <a:avLst/>
          </a:prstGeom>
          <a:solidFill>
            <a:srgbClr val="173B61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4754880" cy="4754880"/>
          </a:xfrm>
          <a:prstGeom prst="ellipse">
            <a:avLst/>
          </a:prstGeom>
          <a:solidFill>
            <a:srgbClr val="173B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77240" y="220863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0E9488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67751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5609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HUMAN–COMPUTER INTERACTION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AI–Based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Website Detection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Human-Centred Machine Learning &amp; SHAP Framework for Non-Technical Users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822192"/>
            <a:ext cx="1993392" cy="841248"/>
          </a:xfrm>
          <a:prstGeom prst="roundRect">
            <a:avLst>
              <a:gd name="adj" fmla="val 10870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9136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11,430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2960" y="43159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analysed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80944" y="3822192"/>
            <a:ext cx="1993392" cy="841248"/>
          </a:xfrm>
          <a:prstGeom prst="roundRect">
            <a:avLst>
              <a:gd name="adj" fmla="val 10870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80944" y="39136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2980944" y="43159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38928" y="3822192"/>
            <a:ext cx="1993392" cy="841248"/>
          </a:xfrm>
          <a:prstGeom prst="roundRect">
            <a:avLst>
              <a:gd name="adj" fmla="val 10870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8928" y="39136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138928" y="43159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96912" y="3822192"/>
            <a:ext cx="1993392" cy="841248"/>
          </a:xfrm>
          <a:prstGeom prst="roundRect">
            <a:avLst>
              <a:gd name="adj" fmla="val 10870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96912" y="39136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96.63%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296912" y="43159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54896" y="3822192"/>
            <a:ext cx="1993392" cy="841248"/>
          </a:xfrm>
          <a:prstGeom prst="roundRect">
            <a:avLst>
              <a:gd name="adj" fmla="val 10870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54896" y="39136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454896" y="43159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2960" y="4956048"/>
            <a:ext cx="105613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97280" y="5138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9728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Ghulam Mustafa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617720" y="5138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1772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F2023266796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138160" y="5138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13816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97280" y="5705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9728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Human–Computer Interaction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617720" y="5705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61772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Iqra Khalil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138160" y="5705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13816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Management &amp; Technology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Accurate Detection Is Not Enough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sites imitate trusted services and trick users into revealing passwords, banking and personal data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exploit familiarity and urgency, not technical flaws.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flag phishing with high accuracy — but a </a:t>
            </a:r>
            <a:r>
              <a:rPr lang="en-US" sz="13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warning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does not understand is often ignored, distrusted or misread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CONTRIBUTIONS OF THIS 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6941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7764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3694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68096" y="418795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supervised classifiers trained &amp; compared</a:t>
            </a:r>
            <a:endParaRPr lang="en-US" sz="1150" b="1" dirty="0"/>
          </a:p>
        </p:txBody>
      </p:sp>
      <p:sp>
        <p:nvSpPr>
          <p:cNvPr id="14" name="Shape 10"/>
          <p:cNvSpPr/>
          <p:nvPr/>
        </p:nvSpPr>
        <p:spPr>
          <a:xfrm>
            <a:off x="3337560" y="3493008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38728" y="36941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37764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87368" y="3694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57016" y="418795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+ SHAP on the best model</a:t>
            </a:r>
            <a:endParaRPr lang="en-US" sz="1150" b="1" dirty="0"/>
          </a:p>
        </p:txBody>
      </p:sp>
      <p:sp>
        <p:nvSpPr>
          <p:cNvPr id="19" name="Shape 14"/>
          <p:cNvSpPr/>
          <p:nvPr/>
        </p:nvSpPr>
        <p:spPr>
          <a:xfrm>
            <a:off x="548640" y="4663440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864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94690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4864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mock-up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535838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as plain-language guidance</a:t>
            </a:r>
            <a:endParaRPr lang="en-US" sz="1150" b="1" dirty="0"/>
          </a:p>
        </p:txBody>
      </p:sp>
      <p:sp>
        <p:nvSpPr>
          <p:cNvPr id="24" name="Shape 18"/>
          <p:cNvSpPr/>
          <p:nvPr/>
        </p:nvSpPr>
        <p:spPr>
          <a:xfrm>
            <a:off x="3337560" y="4663440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38728" y="4864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24" y="494690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87368" y="4864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tool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557016" y="535838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8-item Likert instrument + response workbook</a:t>
            </a:r>
            <a:endParaRPr lang="en-US" sz="1150" b="1" dirty="0"/>
          </a:p>
        </p:txBody>
      </p:sp>
      <p:sp>
        <p:nvSpPr>
          <p:cNvPr id="29" name="Shape 22"/>
          <p:cNvSpPr/>
          <p:nvPr/>
        </p:nvSpPr>
        <p:spPr>
          <a:xfrm>
            <a:off x="6355080" y="1417320"/>
            <a:ext cx="5285232" cy="4892040"/>
          </a:xfrm>
          <a:prstGeom prst="roundRect">
            <a:avLst>
              <a:gd name="adj" fmla="val 2243"/>
            </a:avLst>
          </a:prstGeom>
          <a:solidFill>
            <a:srgbClr val="0F2A4A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629400" y="1627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B8A6"/>
                </a:solidFill>
                <a:effectLst>
                  <a:glow rad="635000">
                    <a:schemeClr val="accent1">
                      <a:alpha val="15000"/>
                    </a:schemeClr>
                  </a:glow>
                  <a:outerShdw blurRad="50800" dist="50800" dir="5400000" sx="24000" sy="24000" algn="ctr" rotWithShape="0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TO RESPONSE</a:t>
            </a:r>
            <a:endParaRPr lang="en-US" sz="1200" dirty="0">
              <a:effectLst>
                <a:glow rad="635000">
                  <a:schemeClr val="accent1">
                    <a:alpha val="15000"/>
                  </a:schemeClr>
                </a:glow>
                <a:outerShdw blurRad="50800" dist="50800" dir="5400000" sx="24000" sy="24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629400" y="21031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812280" y="22219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imitates trusted services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812280" y="25420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 paired with user-facing explanations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629400" y="31272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812280" y="324612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give little reason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6812280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plain-language explanation of output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629400" y="415137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812280" y="4270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are unclear or too technical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812280" y="4590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b="1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Human-centred interface mock-up</a:t>
            </a:r>
            <a:endParaRPr lang="en-US" sz="1100" b="1" dirty="0"/>
          </a:p>
        </p:txBody>
      </p:sp>
      <p:sp>
        <p:nvSpPr>
          <p:cNvPr id="40" name="Shape 33"/>
          <p:cNvSpPr/>
          <p:nvPr/>
        </p:nvSpPr>
        <p:spPr>
          <a:xfrm>
            <a:off x="6629400" y="517550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12280" y="5294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evaluation is usually missing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812280" y="56144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8-item instrument + structured workbook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· POSITIONING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Studies &amp; the Research Gap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44853"/>
              </p:ext>
            </p:extLst>
          </p:nvPr>
        </p:nvGraphicFramePr>
        <p:xfrm>
          <a:off x="548640" y="1417320"/>
          <a:ext cx="11091672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/ Prior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&amp; Contribution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Missing — Research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Hannousse &amp; Yahiouche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dataset &amp; ML phishing detection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 accuracy — no explanation or user warning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&amp; Guestrin —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gradient-boosted tree classifier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accuracy, but a black box to end users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Lundberg &amp; Lee — SHAP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feature-attribution method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XAI, not tied to phishing warnings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Ribeiro et al. — LIME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surrogate explanations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integrated into warning-interface design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Felt et al. · Cranor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comprehension &amp; human-in-the-loop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design without an ML detector behind it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Alsharnouby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study on why phishing succeeds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explainable end-to-end detection pipeline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SHAP + human-centred warning + HCI instrument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Unites detection, explanation &amp; evaluation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03504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17220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07008" y="6035040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  </a:t>
            </a: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unites an accurate classifier, SHAP explanations and human-factors warning design with a structured HCI evaluation — the gap this study fills.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43006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· OBJECTIVES · QUESTIONS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Aim, Objectives &amp; Research Questions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2768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813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assess an explainable-AI framework that accurately classifies websites and presents understandable, actionable warnings to non-technical users.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395728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2578608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2578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&amp; analyse the dataset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31520" y="30723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&amp; class balance?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53912" y="2395728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2578608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16" name="Text 12"/>
          <p:cNvSpPr/>
          <p:nvPr/>
        </p:nvSpPr>
        <p:spPr>
          <a:xfrm>
            <a:off x="6336792" y="2578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114032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six supervised models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36792" y="30723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performs best overall?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694176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877056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38770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508760" y="38587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influential features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31520" y="437083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predictions?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53912" y="3694176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36792" y="3877056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38770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114032" y="38587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(global + local)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336792" y="437083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XAI add transparency?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48640" y="4992624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31520" y="5175504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31" name="Text 27"/>
          <p:cNvSpPr/>
          <p:nvPr/>
        </p:nvSpPr>
        <p:spPr>
          <a:xfrm>
            <a:off x="731520" y="5175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1508760" y="5157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plain-language warning UI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731520" y="56692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present output to laypeople?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153912" y="4992624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336792" y="5175504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F2A4A"/>
          </a:solidFill>
          <a:ln/>
        </p:spPr>
      </p:sp>
      <p:sp>
        <p:nvSpPr>
          <p:cNvPr id="36" name="Text 32"/>
          <p:cNvSpPr/>
          <p:nvPr/>
        </p:nvSpPr>
        <p:spPr>
          <a:xfrm>
            <a:off x="6336792" y="5175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O6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114032" y="5157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HCI evaluation instrument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336792" y="56692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  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measure usability &amp; trust?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Work Tells Us — and the Gap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70078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approaches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8096" y="2112264"/>
            <a:ext cx="5020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Blacklists, heuristics, URL-, content-, reputation- and visual-similarity methods. Static rules age fast; ML generalises better to unseen pages.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53912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16184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70078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phishing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373368" y="2112264"/>
            <a:ext cx="5020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single trees underfit/overfit. Tree ensembles (RF, Extra Trees, Gradient Boosting, XGBoost) excel on heterogeneous tabular features.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93522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1363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21868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68096" y="3630168"/>
            <a:ext cx="5020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gives consistent, locally-accurate feature attributions (Shapley values); LIME approximates locally. Faithful yet understandable explanations are key.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53912" y="293522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55080" y="31363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21868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&amp; warning design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373368" y="3630168"/>
            <a:ext cx="5020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must be clear, actionable and well-calibrated. Poor or repeated alerts cause warning fatigue; jargon erodes trust.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498848"/>
            <a:ext cx="11091672" cy="1810512"/>
          </a:xfrm>
          <a:prstGeom prst="roundRect">
            <a:avLst>
              <a:gd name="adj" fmla="val 6061"/>
            </a:avLst>
          </a:prstGeom>
          <a:solidFill>
            <a:srgbClr val="0F2A4A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68680" y="5074920"/>
            <a:ext cx="658368" cy="658368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" y="5239512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8308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783080" y="5047488"/>
            <a:ext cx="9555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optimises predictive accuracy but neglects human understanding, explanation quality, warning usability and trust calibration. Few studies combine an accurate classifier, SHAP explanations and human-factors warning design into a single end-to-end pipeline with a structured evaluation instrument — exactly the gap this study addresses.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 &amp; Modelling Pipeline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FRAMEWORK</a:t>
            </a:r>
            <a:endParaRPr lang="en-US" sz="1100" dirty="0"/>
          </a:p>
        </p:txBody>
      </p:sp>
      <p:pic>
        <p:nvPicPr>
          <p:cNvPr id="7" name="Image 1" descr="img/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928" y="1572768"/>
            <a:ext cx="7863840" cy="24415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288683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49808" y="4489851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572147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489851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68096" y="4983627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Quantitative, experimental ML + XAI + design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242816" y="4288683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443984" y="4489851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572147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92624" y="4489851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462272" y="4983627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: 20 stratified train–test (1,143 each class)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936992" y="4288683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138160" y="4489851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4572147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0" y="4489851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156448" y="4983627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on phishing-class F1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5404251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49808" y="560541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5687715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98448" y="5605419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metric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68096" y="6099195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Phishing-class F1 — penalises missed detections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242816" y="5404251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443984" y="560541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5687715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92624" y="5605419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462272" y="6099195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· Tree · RF · Extra Trees · GBM · XGBoost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7936992" y="5404251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138160" y="560541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456" y="5687715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686800" y="5605419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8156448" y="6099195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hyper-parameters — a stated limitation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 Phishing Detection — Balanced &amp; Rich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CLASSES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783080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325880" y="2788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11,430
</a:t>
            </a: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URLs</a:t>
            </a:r>
            <a:endParaRPr lang="en-US" sz="2700" dirty="0"/>
          </a:p>
        </p:txBody>
      </p:sp>
      <p:sp>
        <p:nvSpPr>
          <p:cNvPr id="9" name="Shape 5"/>
          <p:cNvSpPr/>
          <p:nvPr/>
        </p:nvSpPr>
        <p:spPr>
          <a:xfrm>
            <a:off x="1325880" y="4956048"/>
            <a:ext cx="201168" cy="20116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" name="Text 6"/>
          <p:cNvSpPr/>
          <p:nvPr/>
        </p:nvSpPr>
        <p:spPr>
          <a:xfrm>
            <a:off x="1591056" y="4901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4956048"/>
            <a:ext cx="201168" cy="20116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2" name="Text 8"/>
          <p:cNvSpPr/>
          <p:nvPr/>
        </p:nvSpPr>
        <p:spPr>
          <a:xfrm>
            <a:off x="3008376" y="4901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92040" y="17830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83480" y="19293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5,715</a:t>
            </a:r>
            <a:endParaRPr lang="en-US" sz="3100" dirty="0"/>
          </a:p>
        </p:txBody>
      </p:sp>
      <p:sp>
        <p:nvSpPr>
          <p:cNvPr id="15" name="Text 11"/>
          <p:cNvSpPr/>
          <p:nvPr/>
        </p:nvSpPr>
        <p:spPr>
          <a:xfrm>
            <a:off x="5001768" y="2532888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647688" y="17830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39128" y="19293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5,715</a:t>
            </a:r>
            <a:endParaRPr lang="en-US" sz="3100" dirty="0"/>
          </a:p>
        </p:txBody>
      </p:sp>
      <p:sp>
        <p:nvSpPr>
          <p:cNvPr id="18" name="Text 14"/>
          <p:cNvSpPr/>
          <p:nvPr/>
        </p:nvSpPr>
        <p:spPr>
          <a:xfrm>
            <a:off x="6757416" y="2532888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92040" y="324612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83480" y="33924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100" dirty="0"/>
          </a:p>
        </p:txBody>
      </p:sp>
      <p:sp>
        <p:nvSpPr>
          <p:cNvPr id="21" name="Text 17"/>
          <p:cNvSpPr/>
          <p:nvPr/>
        </p:nvSpPr>
        <p:spPr>
          <a:xfrm>
            <a:off x="5001768" y="3995928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647688" y="324612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739128" y="33924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3100" dirty="0"/>
          </a:p>
        </p:txBody>
      </p:sp>
      <p:sp>
        <p:nvSpPr>
          <p:cNvPr id="24" name="Text 20"/>
          <p:cNvSpPr/>
          <p:nvPr/>
        </p:nvSpPr>
        <p:spPr>
          <a:xfrm>
            <a:off x="6757416" y="3995928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92040" y="4736592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74920" y="473659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Hannousse &amp; Yahiouche · Mendeley Data V3 · target = status (0/1)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503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TAXONOMY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503920" y="1783080"/>
            <a:ext cx="3136392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705088" y="1965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384" y="2048256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272016" y="1947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structure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10652760" y="189280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700" dirty="0"/>
          </a:p>
        </p:txBody>
      </p:sp>
      <p:sp>
        <p:nvSpPr>
          <p:cNvPr id="33" name="Text 28"/>
          <p:cNvSpPr/>
          <p:nvPr/>
        </p:nvSpPr>
        <p:spPr>
          <a:xfrm>
            <a:off x="9272016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dots, hyphens, query marks, IP, tokens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503920" y="2999232"/>
            <a:ext cx="3136392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705088" y="3182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3264408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272016" y="3163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content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10652760" y="31089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700" dirty="0"/>
          </a:p>
        </p:txBody>
      </p:sp>
      <p:sp>
        <p:nvSpPr>
          <p:cNvPr id="39" name="Text 33"/>
          <p:cNvSpPr/>
          <p:nvPr/>
        </p:nvSpPr>
        <p:spPr>
          <a:xfrm>
            <a:off x="9272016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hyperlinks, forms, scripts, page behaviour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8503920" y="4215384"/>
            <a:ext cx="3136392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8705088" y="43982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384" y="4480560"/>
            <a:ext cx="292608" cy="29260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272016" y="43799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10652760" y="432511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700" dirty="0"/>
          </a:p>
        </p:txBody>
      </p:sp>
      <p:sp>
        <p:nvSpPr>
          <p:cNvPr id="45" name="Text 38"/>
          <p:cNvSpPr/>
          <p:nvPr/>
        </p:nvSpPr>
        <p:spPr>
          <a:xfrm>
            <a:off x="9272016" y="47640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index, PageRank, DNS record, web traffic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PERFORMANCE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 Compared — XGBoost Wins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81328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726680" y="1481328"/>
            <a:ext cx="3913632" cy="2423160"/>
          </a:xfrm>
          <a:prstGeom prst="roundRect">
            <a:avLst>
              <a:gd name="adj" fmla="val 4528"/>
            </a:avLst>
          </a:prstGeom>
          <a:solidFill>
            <a:srgbClr val="0F2A4A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001000" y="1755648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28800"/>
            <a:ext cx="420624" cy="420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325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732520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028432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9784080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0.96632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028432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784080" y="2798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0.96187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028432" y="3054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9784080" y="30540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0.97113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28432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784080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0.96648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28432" y="3566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784080" y="35661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0.99443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26680" y="4096512"/>
            <a:ext cx="3913632" cy="1078992"/>
          </a:xfrm>
          <a:prstGeom prst="roundRect">
            <a:avLst>
              <a:gd name="adj" fmla="val 8475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27848" y="4297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4" y="437997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76488" y="42976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dominate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946136" y="479145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&amp; Random Forest trail XGBoost closely; LogReg and a single tree are weakest on this structured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726680" y="5266944"/>
            <a:ext cx="3913632" cy="1042416"/>
          </a:xfrm>
          <a:prstGeom prst="roundRect">
            <a:avLst>
              <a:gd name="adj" fmla="val 8772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927848" y="5468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555040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76488" y="54681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= safer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946136" y="596188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recall means few phishing pages slip through — the most security-critical property.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ERROR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Cross-Validation Stability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THE TEST SET  ·  2,286 PAGES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91640" y="175564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91640" y="1975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1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52344" y="1975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1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 rot="5400000">
            <a:off x="68580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91640" y="2212848"/>
            <a:ext cx="969264" cy="969264"/>
          </a:xfrm>
          <a:prstGeom prst="roundRect">
            <a:avLst>
              <a:gd name="adj" fmla="val 7547"/>
            </a:avLst>
          </a:prstGeom>
          <a:solidFill>
            <a:srgbClr val="2F9E66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91640" y="2359152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1099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1691640" y="2834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52344" y="2212848"/>
            <a:ext cx="969264" cy="969264"/>
          </a:xfrm>
          <a:prstGeom prst="roundRect">
            <a:avLst>
              <a:gd name="adj" fmla="val 7547"/>
            </a:avLst>
          </a:prstGeom>
          <a:solidFill>
            <a:srgbClr val="E8833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52344" y="2359152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2752344" y="28346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691640" y="3273552"/>
            <a:ext cx="969264" cy="969264"/>
          </a:xfrm>
          <a:prstGeom prst="roundRect">
            <a:avLst>
              <a:gd name="adj" fmla="val 7547"/>
            </a:avLst>
          </a:prstGeom>
          <a:solidFill>
            <a:srgbClr val="D64545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691640" y="3419856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1691640" y="38953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52344" y="3273552"/>
            <a:ext cx="969264" cy="969264"/>
          </a:xfrm>
          <a:prstGeom prst="roundRect">
            <a:avLst>
              <a:gd name="adj" fmla="val 7547"/>
            </a:avLst>
          </a:prstGeom>
          <a:solidFill>
            <a:srgbClr val="0E9488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752344" y="3419856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1110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2752344" y="38953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92040" y="214884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83480" y="22951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2.89%</a:t>
            </a:r>
            <a:endParaRPr lang="en-US" sz="3100" dirty="0"/>
          </a:p>
        </p:txBody>
      </p:sp>
      <p:sp>
        <p:nvSpPr>
          <p:cNvPr id="25" name="Text 22"/>
          <p:cNvSpPr/>
          <p:nvPr/>
        </p:nvSpPr>
        <p:spPr>
          <a:xfrm>
            <a:off x="5001768" y="2898648"/>
            <a:ext cx="16550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rate · security risk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03720" y="214884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95160" y="22951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3.85%</a:t>
            </a:r>
            <a:endParaRPr lang="en-US" sz="3100" dirty="0"/>
          </a:p>
        </p:txBody>
      </p:sp>
      <p:sp>
        <p:nvSpPr>
          <p:cNvPr id="28" name="Text 25"/>
          <p:cNvSpPr/>
          <p:nvPr/>
        </p:nvSpPr>
        <p:spPr>
          <a:xfrm>
            <a:off x="7013448" y="2898648"/>
            <a:ext cx="16550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· fatigue risk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915400" y="21488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06840" y="2295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96.15%</a:t>
            </a:r>
            <a:endParaRPr lang="en-US" sz="3100" dirty="0"/>
          </a:p>
        </p:txBody>
      </p:sp>
      <p:sp>
        <p:nvSpPr>
          <p:cNvPr id="31" name="Text 28"/>
          <p:cNvSpPr/>
          <p:nvPr/>
        </p:nvSpPr>
        <p:spPr>
          <a:xfrm>
            <a:off x="9025128" y="2898648"/>
            <a:ext cx="2478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· legit sites correctly cleared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892040" y="3703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FIVE-FOLD CROSS-VALIDATION  (PHISHING-CLASS F1)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4023360"/>
          <a:ext cx="6748272" cy="1874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CV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9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548640" y="45262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49808" y="47274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809744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298448" y="4727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not lucky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768096" y="5221224"/>
            <a:ext cx="3648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has the highest mean CV F1 (0.96906) and the smallest variability (SD 0.00202) of the top three — no reliance on one lucky split. ROC-AUC ≈ 0.994 and average precision ≈ 0.99 confirm strong, threshold-robust class separation.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Model Decides — SHAP &amp; Feature Importance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 (XGBOOST GAIN)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64208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99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google_index dominates — external reputation is the single strongest signal.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5080" y="137160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0F2A4A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62940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TECHNICAL → PLAIN LANGUAGE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29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google_index  →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“Poor search-engine reputation”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629400" y="2432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 tokens / query marks  →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address looks unusual”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62940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 pattern like known phishing  →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“Page resembles phishing pages”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0" y="370332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39044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9867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4888" y="3904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74536" y="439826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plot ranks each feature's overall effect across many pages.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61704" y="370332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39044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398678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11512" y="3904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81160" y="439826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reasons explain why one specific page is risky.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55080" y="4983480"/>
            <a:ext cx="528523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25" name="Image 3" descr="img/shap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7960" y="5074920"/>
            <a:ext cx="2194560" cy="11430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15400" y="5120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
</a:t>
            </a: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high feature value, blue = low. Position shows push toward phishing (right) or legitimate (left), making each decision auditable.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HUMAN-CENTRED DESIGN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Output to a Usable Warning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64465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pic>
        <p:nvPicPr>
          <p:cNvPr id="7" name="Image 1" descr="img/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37091"/>
            <a:ext cx="6080760" cy="3720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59612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1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mock-up — a static concept, not deployed software.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2237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VISIBLE COMPONENTS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223760" y="1664208"/>
            <a:ext cx="4416552" cy="694944"/>
          </a:xfrm>
          <a:prstGeom prst="roundRect">
            <a:avLst>
              <a:gd name="adj" fmla="val 11842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70064" y="18105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8836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0956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label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909560" y="2039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“phishing / legitimate” verdict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223760" y="2450592"/>
            <a:ext cx="4416552" cy="694944"/>
          </a:xfrm>
          <a:prstGeom prst="roundRect">
            <a:avLst>
              <a:gd name="adj" fmla="val 11842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70064" y="259689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267004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0956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score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909560" y="2825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confidence (e.g. 96.1% high risk)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3236976"/>
            <a:ext cx="4416552" cy="694944"/>
          </a:xfrm>
          <a:prstGeom prst="roundRect">
            <a:avLst>
              <a:gd name="adj" fmla="val 11842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370064" y="338328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345643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9560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90956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signals, no technical jargon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223760" y="4023360"/>
            <a:ext cx="4416552" cy="694944"/>
          </a:xfrm>
          <a:prstGeom prst="roundRect">
            <a:avLst>
              <a:gd name="adj" fmla="val 11842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370064" y="416966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216" y="424281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0956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safety advice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909560" y="4398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next step — “do not enter data”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223760" y="4956048"/>
            <a:ext cx="4416552" cy="1325880"/>
          </a:xfrm>
          <a:prstGeom prst="roundRect">
            <a:avLst>
              <a:gd name="adj" fmla="val 6897"/>
            </a:avLst>
          </a:prstGeom>
          <a:solidFill>
            <a:srgbClr val="0F2A4A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7406640" y="5074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406640" y="53492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+ text (not colour alone) for accessibility</a:t>
            </a:r>
            <a:endParaRPr lang="en-US" sz="11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 · clear warning hierarchy</a:t>
            </a:r>
            <a:endParaRPr lang="en-US" sz="11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basis, not certainty → trust calibration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F2A4A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EVALUATION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Workbook Results — 8-Item Likert Instrument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6362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21671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4173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47288" y="156362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3465576" y="21671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mean / 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63056" y="14173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54496" y="156362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F9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93.1%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6272784" y="21671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agreement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970264" y="14173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61704" y="156362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9079992" y="21671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α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BY ITEM (Q1–Q8)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3127248"/>
          <a:ext cx="67665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3127248"/>
            <a:ext cx="4233672" cy="9144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607808" y="332841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34107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32841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Q5 · 4.55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626096" y="3822192"/>
            <a:ext cx="3813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warning spotted risk fastest (100% agreement).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406640" y="4133088"/>
            <a:ext cx="4233672" cy="91440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07808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4" y="4416552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56448" y="433425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Q7 · 3.90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626096" y="4828032"/>
            <a:ext cx="3813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trust — appropriate for a prototype.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406640" y="5138928"/>
            <a:ext cx="4233672" cy="1188720"/>
          </a:xfrm>
          <a:prstGeom prst="roundRect">
            <a:avLst>
              <a:gd name="adj" fmla="val 7692"/>
            </a:avLst>
          </a:prstGeom>
          <a:solidFill>
            <a:srgbClr val="EAF2F9"/>
          </a:solidFill>
          <a:ln w="12700">
            <a:solidFill>
              <a:srgbClr val="DCE6EE"/>
            </a:solidFill>
            <a:prstDash val="solid"/>
          </a:ln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607808" y="534009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5422392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56448" y="534009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constructs measured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626096" y="5833872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· warning &amp; explanation clarity · risk communication · visual cue · decision support · trust · suitability.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486400" cy="5486400"/>
          </a:xfrm>
          <a:prstGeom prst="ellipse">
            <a:avLst/>
          </a:prstGeom>
          <a:solidFill>
            <a:srgbClr val="173B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E9488"/>
          </a:solidFill>
          <a:ln/>
          <a:effectLst>
            <a:outerShdw blurRad="88900" dist="25400" dir="5400000" algn="bl" rotWithShape="0">
              <a:srgbClr val="9DB2C6">
                <a:alpha val="1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LIMITATIONS · CONCLUSION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353312" y="7040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7739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4672" y="2395728"/>
            <a:ext cx="30632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best: 96.63% acc, 0.966 F1, 0.994 ROC-AUC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fit heterogeneous tabular features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reputation + URL/page structure drive risk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each decision auditable &amp; explainable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42816" y="141732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71416" y="1645920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17739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7216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498848" y="2395728"/>
            <a:ext cx="30632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possibly dated dataset; no external validation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hyper-parameters; no adversarial / drift testing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external services (Google, PageRank, DNS)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 mock-up; HCI data are pilot only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936992" y="141732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173B61"/>
          </a:solidFill>
          <a:ln w="12700">
            <a:solidFill>
              <a:srgbClr val="2C5278"/>
            </a:solidFill>
            <a:prstDash val="solid"/>
          </a:ln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65592" y="1645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77393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51392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193024" y="2395728"/>
            <a:ext cx="30632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explainability + warning design together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browser extension; validate on live feeds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user study (SUS, trust calibration)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QR-phishing &amp; visual-similarity extensions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0E9488"/>
          </a:solidFill>
          <a:ln/>
          <a:effectLst>
            <a:outerShdw blurRad="114300" dist="38100" dir="5400000" algn="bl" rotWithShape="0">
              <a:srgbClr val="7A93AC">
                <a:alpha val="2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22960" y="5779008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phishing defence must combine accuracy, explainability and human-centred warning design — empirical evaluation with real users is the essential next step.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1893</Words>
  <Application>Microsoft Office PowerPoint</Application>
  <PresentationFormat>Widescreen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AI-Based Phishing Website Detection</dc:title>
  <dc:subject>PptxGenJS Presentation</dc:subject>
  <dc:creator>Ghulam Mustafa</dc:creator>
  <cp:lastModifiedBy>Ghulam Mustafa</cp:lastModifiedBy>
  <cp:revision>3</cp:revision>
  <dcterms:created xsi:type="dcterms:W3CDTF">2026-06-20T13:26:47Z</dcterms:created>
  <dcterms:modified xsi:type="dcterms:W3CDTF">2026-06-20T13:34:38Z</dcterms:modified>
</cp:coreProperties>
</file>